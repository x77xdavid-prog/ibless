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iBless </a:t>
            </a:r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 사업설명회 · FRANCHISE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자라는 영어 습관을 만드는
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교육 시스템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동기과학(자기결정이론)으로 설계한 아동 영어 교육 — 함께 시작하세요.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커지는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사교육·영어 시장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학령인구는 줄어도 사교육 지출과 참여율은 매년 증가합니다. 검증된 시스템을 가진 브랜드의 기회입니다.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3413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260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29.2조원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초·중·고 사교육비 총액 (전년比 +7.7%)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3880" y="2651760"/>
            <a:ext cx="3413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8200" y="29260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48200" y="37033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사교육 참여율 (초등 87.7%)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1960" y="2651760"/>
            <a:ext cx="3413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6280" y="29260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47.4만원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36280" y="37033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1인당 월평균 사교육비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「2024년 초중고사교육비조사」(2025 발표). 영유아 영어학원비도 ’20년 대비 약 +35% 상승.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학부모의 고민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학년이 같아도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실력은 다릅니다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 일괄 진도 → 뒤처진 아이는 포기, 앞선 아이는 지루함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점수·등수 비교 → 영어가 싫어지는 아이들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 배우는지’ 모른 채 시키니 스스로 하지 않음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663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</a:t>
            </a:r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실력에서 출발</a:t>
            </a:r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buNone/>
            </a:pPr>
            <a:r>
              <a:rPr lang="en-US" sz="20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하게 만드는</a:t>
            </a:r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=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실력에서 출발하는 1:1 맞춤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669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42032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레벨 진단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953512"/>
            <a:ext cx="4718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세분화된 레벨에서 지금 실력의 위치를 과학적으로 측정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8776" y="2286000"/>
            <a:ext cx="52669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83096" y="2542032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맞춤 학습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83096" y="2953512"/>
            <a:ext cx="4718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실력에 꼭 맞는 교재·코칭으로 자신감부터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233672"/>
            <a:ext cx="52669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48970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영역 통합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4901184"/>
            <a:ext cx="4718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듣기·읽기·말하기·쓰기를 균형 있게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08776" y="4233672"/>
            <a:ext cx="526694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83096" y="448970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블렌디드 러닝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83096" y="4901184"/>
            <a:ext cx="4718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수업 + 온라인 복습·앱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동기과학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설계한 교육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자기결정이론(SDT) · 6개 미니이론 기반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95351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41071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인지평가이론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82219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비교 대신 과정·전략 칭찬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2697480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2104" y="295351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2104" y="341071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유기적통합이론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2104" y="382219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외적 보상→내적 동기로 내면화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9768" y="2697480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4088" y="295351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4088" y="341071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인과지향성이론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4088" y="382219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선택권으로 자기주도 성향 강화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462272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18304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기본심리욕구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0120" y="558698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자율성·유능감·관계성 충족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7784" y="4462272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2104" y="4718304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2104" y="5175504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목표내용이론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42104" y="558698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‘할 수 있게 되는’ 내재적 목표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9768" y="4462272"/>
            <a:ext cx="3425952" cy="1508760"/>
          </a:xfrm>
          <a:prstGeom prst="roundRect">
            <a:avLst>
              <a:gd name="adj" fmla="val 5455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4088" y="4718304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4088" y="5175504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관계동기이론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24088" y="558698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유대 + 또래 커뮤니티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경쟁사가 따라 할 수 없는, 이론에 근거한 교육 설계가 브랜드의 해자입니다.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프로그램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아이를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움직이게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3가지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4203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9992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선택해서 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3410712"/>
            <a:ext cx="2877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 스스로 정하기, 학습 메뉴 선택권, 난이도 자기조절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7784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2104" y="254203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유능감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2104" y="29992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점점 잘하고 있어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42104" y="3410712"/>
            <a:ext cx="2877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레벨링으로 잦은 성공, 약점 집중, 정보적 피드백 리포트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9768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4088" y="2542032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4088" y="29992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연결되어 있어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24088" y="3410712"/>
            <a:ext cx="2877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코칭 유대, 또래 챌린지, 학부모 알림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보상은 </a:t>
            </a:r>
            <a:pPr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‘성취 인정’</a:t>
            </a:r>
            <a:pPr indent="0" marL="0">
              <a:buNone/>
            </a:pPr>
            <a:r>
              <a:rPr lang="en-US" sz="14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설계 — 비교·등수 대신 내 성장 기록(CET·OIT).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시스템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굴러가는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영어 습관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확인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자기주도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코칭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보충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010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점검·피드백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29800" y="22402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2386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829800" y="2752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복습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2505456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685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레벨링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60120" y="40965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맞는 단계에서 출발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47288" y="3429000"/>
            <a:ext cx="2505456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21608" y="3685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영역 통합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721608" y="40965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L·R·S·W 균형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08776" y="3429000"/>
            <a:ext cx="2505456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83096" y="3685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콘텐츠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483096" y="40965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영상·이러닝·워크북·리딩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70264" y="3429000"/>
            <a:ext cx="2505456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44584" y="3685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앱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244584" y="40965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단어·복습 알림·리포트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평가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유아부터 고등까지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로드맵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50545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420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9992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Phonics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34107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유치원~초등 저 · Junior 진단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2286000"/>
            <a:ext cx="250545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21608" y="25420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21608" y="29992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21608" y="34107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· JET 3~6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2286000"/>
            <a:ext cx="250545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25420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29992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83096" y="34107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고~중등 · JET 1·2/Bridge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2286000"/>
            <a:ext cx="250545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4584" y="25420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44584" y="29992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Advanced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44584" y="3410712"/>
            <a:ext cx="1956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중등~고등 · TOEIC/iBT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공인시험은 ‘성장 확인 도구’ — 단계별 목표로 객관적 검증(GCT).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· 리텐션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다니게 하는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iBless 포인트로 성취를 인정하고 스토어에서 교환. 처음엔 외적 동기로 시작해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‘잘하고 싶은 마음’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내면화되도록 설계(OIT).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앱 복습 알림 → 잊을 때쯤 다시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리포트·알림 → 가정의 신뢰·재등록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또래 챌린지 → 지속의 즐거움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 강점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시스템을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505456" cy="2103120"/>
          </a:xfrm>
          <a:prstGeom prst="roundRect">
            <a:avLst>
              <a:gd name="adj" fmla="val 3913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72491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318211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커리큘럼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3593592"/>
            <a:ext cx="19568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레벨링·4대영역·공인시험 연계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05456" cy="2103120"/>
          </a:xfrm>
          <a:prstGeom prst="roundRect">
            <a:avLst>
              <a:gd name="adj" fmla="val 3913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272491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21608" y="318211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교재·콘텐츠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21608" y="3593592"/>
            <a:ext cx="19568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자체 개발 교재·앱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2468880"/>
            <a:ext cx="2505456" cy="2103120"/>
          </a:xfrm>
          <a:prstGeom prst="roundRect">
            <a:avLst>
              <a:gd name="adj" fmla="val 3913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72491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318211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시스템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83096" y="3593592"/>
            <a:ext cx="19568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진단·리포트·수료 인증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2468880"/>
            <a:ext cx="2505456" cy="2103120"/>
          </a:xfrm>
          <a:prstGeom prst="roundRect">
            <a:avLst>
              <a:gd name="adj" fmla="val 3913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4584" y="272491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44584" y="318211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매뉴얼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44584" y="3593592"/>
            <a:ext cx="19568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직영 노하우 전수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 지원 · 절차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오픈부터 운영까지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2505456" cy="1554480"/>
          </a:xfrm>
          <a:prstGeom prst="roundRect">
            <a:avLst>
              <a:gd name="adj" fmla="val 5294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7919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지원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3090672"/>
            <a:ext cx="1956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상권분석·인테리어 가이드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7288" y="2423160"/>
            <a:ext cx="2505456" cy="1554480"/>
          </a:xfrm>
          <a:prstGeom prst="roundRect">
            <a:avLst>
              <a:gd name="adj" fmla="val 5294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267919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교육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721608" y="3090672"/>
            <a:ext cx="1956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교수법·시스템 교육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2423160"/>
            <a:ext cx="2505456" cy="1554480"/>
          </a:xfrm>
          <a:prstGeom prst="roundRect">
            <a:avLst>
              <a:gd name="adj" fmla="val 5294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267919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83096" y="3090672"/>
            <a:ext cx="1956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브랜드·지역 홍보 지원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2423160"/>
            <a:ext cx="2505456" cy="1554480"/>
          </a:xfrm>
          <a:prstGeom prst="roundRect">
            <a:avLst>
              <a:gd name="adj" fmla="val 5294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267919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슈퍼바이징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244584" y="3090672"/>
            <a:ext cx="1956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운영 컨설팅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 문의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146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상담·설명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3434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분석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722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0010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29800" y="4297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0232E"/>
          </a:solidFill>
          <a:ln w="12700">
            <a:solidFill>
              <a:srgbClr val="3238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829800" y="4809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(예시 · 실제 값으로 교체)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420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개설 비용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953512"/>
            <a:ext cx="28773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가맹비 + 교육·오픈 지원 + 인테리어 + 초도물품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총 OO,OOO만원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7784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2104" y="25420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수익 구조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42104" y="2953512"/>
            <a:ext cx="28773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재원생 × 수강료 − 운영비(임대·인건비·로열티)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재원 OO명 기준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9768" y="2286000"/>
            <a:ext cx="342595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  <a:effectLst>
            <a:outerShdw sx="100000" sy="100000" kx="0" ky="0" algn="bl" rotWithShape="0" blurRad="114300" dist="25400" dir="8100000">
              <a:srgbClr val="15151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4088" y="2542032"/>
            <a:ext cx="2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5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로열티·정책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24088" y="2953512"/>
            <a:ext cx="28773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매출의 예시 O% 또는 정액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9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조건은 정보공개서 기준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위 수치는 예시입니다. 실제 비용·수익은 가맹사업법 정보공개서 기준으로 확정해 과장 없이 안내하세요.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 가맹 사업설명회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iBless </a:t>
            </a:r>
            <a:pPr algn="ct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아이블레스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교육으로,
</a:t>
            </a:r>
            <a:endParaRPr lang="en-US" sz="4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EC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성장</a:t>
            </a:r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하시겠어요?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가맹 상담을 신청하세요. 자세한 사업 안내를 드립니다.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484632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4846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 문의하기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{전화 / 이메일} · 인천 송도 본사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아이블레스 가맹 사업설명회</dc:title>
  <dc:subject>PptxGenJS Presentation</dc:subject>
  <dc:creator>아이블레스</dc:creator>
  <cp:lastModifiedBy>아이블레스</cp:lastModifiedBy>
  <cp:revision>1</cp:revision>
  <dcterms:created xsi:type="dcterms:W3CDTF">2026-06-06T13:07:46Z</dcterms:created>
  <dcterms:modified xsi:type="dcterms:W3CDTF">2026-06-06T13:07:46Z</dcterms:modified>
</cp:coreProperties>
</file>