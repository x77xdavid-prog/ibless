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iBless</a:t>
            </a:r>
            <a:pPr algn="l" indent="0" marL="0">
              <a:buNone/>
            </a:pPr>
            <a:r>
              <a:rPr lang="en-US" sz="120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아이블레스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사업설명회 · FRANCHISE BRIEFING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자라는
영어 습관을 만드는
</a:t>
            </a:r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교육 시스템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동기과학(자기결정이론)으로 설계한 아동 영어 교육 — 함께 시작하세요.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커지는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사교육·영어 시장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학령인구는 줄어도 사교육 지출과 참여율은 매년 증가합니다. 검증된 시스템을 가진 브랜드의 기회입니다.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32714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29.2조원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4069080"/>
            <a:ext cx="32714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 초·중·고 사교육비 총액 (전년比 +7.7%)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22978" y="3200400"/>
            <a:ext cx="32714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80.0%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322978" y="4069080"/>
            <a:ext cx="32714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사교육 참여율 (초등 87.7%)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8717" y="3200400"/>
            <a:ext cx="32714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47.4만원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868717" y="4069080"/>
            <a:ext cx="327141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1인당 월평균 사교육비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「2024년 초중고사교육비조사」(2025 발표). 영유아 영어학원비도 ’20년 대비 약 +35% 상승.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학부모의 고민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학년이 같아도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실력은 다릅니다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331720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학년 일괄 진도 → 뒤처진 아이는 포기, 앞선 아이는 지루함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990088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점수·등수 비교 → 영어가 싫어지는 아이들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694176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3648456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“왜 배우는지” 모른 채 시키니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하지 않음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66344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건 실력에서 출발하고 스스로 하게 만드는 설계입니다.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솔루션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아이블레스 =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실력에서 출발하는 1:1 맞춤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레벨 진단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953512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세분화된 레벨에서 지금 실력의 위치를 과학적으로 측정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23864" y="2331720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61608" y="2532888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맞춤 학습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61608" y="2953512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실력에 꼭 맞는 교재·코칭으로 자신감부터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4279392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14984" y="4480560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영역 통합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014984" y="4901184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듣기·읽기·말하기·쓰기를 균형 있게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23864" y="4279392"/>
            <a:ext cx="519059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61608" y="4480560"/>
            <a:ext cx="471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블렌디드 러닝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1608" y="4901184"/>
            <a:ext cx="471510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수업 + 온라인 복습·앱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차별점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6372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동기과학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설계한 교육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7B7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자기결정이론(SDT) · 6개 미니이론 기반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4984" y="23042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14984" y="27614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인지평가이론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14984" y="3182112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비교 대신 과정·전략 칭찬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8322" y="2103120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6066" y="23042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OIT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46066" y="27614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유기적통합이론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46066" y="3182112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외적 보상→내적 동기로 내면화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39405" y="2103120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7149" y="23042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77149" y="27614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인과지향성이론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77149" y="3182112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선택권으로 자기주도 성향 강화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986784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4984" y="41879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BPNT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014984" y="46451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기본심리욕구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14984" y="5065776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자율성·유능감·관계성 충족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408322" y="3986784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6066" y="41879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GCT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646066" y="46451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목표내용이론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646066" y="5065776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“할 수 있게 되는” 내재적 목표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39405" y="3986784"/>
            <a:ext cx="3375050" cy="1627632"/>
          </a:xfrm>
          <a:prstGeom prst="roundRect">
            <a:avLst>
              <a:gd name="adj" fmla="val 505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7149" y="41879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RMT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277149" y="4645152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관계동기이론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277149" y="5065776"/>
            <a:ext cx="289956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유대 + 또래 커뮤니티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경쟁사가 따라 할 수 없는,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이론에 근거한 교육 설계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브랜드의 해자입니다.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프로그램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아이를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움직이게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3가지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337505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자율성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9900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선택해서 한다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410712"/>
            <a:ext cx="289956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 스스로 정하기, 학습 메뉴 선택권, 난이도 자기조절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8322" y="2331720"/>
            <a:ext cx="337505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6066" y="253288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유능감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46066" y="29900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점점 잘하고 있어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646066" y="3410712"/>
            <a:ext cx="289956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레벨링으로 잦은 성공, 약점 집중, 정보적 피드백 리포트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39405" y="2331720"/>
            <a:ext cx="337505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7149" y="2532888"/>
            <a:ext cx="2899562" cy="310896"/>
          </a:xfrm>
          <a:prstGeom prst="roundRect">
            <a:avLst>
              <a:gd name="adj" fmla="val 50000"/>
            </a:avLst>
          </a:prstGeom>
          <a:solidFill>
            <a:srgbClr val="FECA0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관계성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77149" y="29900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연결되어 있어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77149" y="3410712"/>
            <a:ext cx="2899562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 유대, 또래 챌린지, 학부모 알림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 보상은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“성취 인정”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설계 — 비교·등수 대신 내 성장 기록(CET·OIT).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시스템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굴러가는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영어 습관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00884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65476" y="2240280"/>
            <a:ext cx="1824228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자기주도 학습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36008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0" y="2240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47688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224028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 보충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35924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00516" y="2240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점검·피드백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547604" y="224028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12196" y="2240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FF2E6"/>
          </a:solidFill>
          <a:ln w="12700">
            <a:solidFill>
              <a:srgbClr val="E7E7E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</a:t>
            </a:r>
            <a:pPr algn="ctr" indent="0" marL="0"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복습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14984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레벨링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014984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맞는 단계에서 출발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500552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738296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영역 통합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38296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L·R·S·W 균형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23864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61608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61608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영상·이러닝·워크북·리딩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47175" y="310896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84919" y="331012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앱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84919" y="373075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단어·복습 알림·리포트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평가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유아부터 고등까지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로드맵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Phonics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유치원~초등 저 · Junior 진단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00552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38296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38296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38296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초등 · JET 3~6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3864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61608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61608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Master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1608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초등 고~중등 · JET 1·2/Bridge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47175" y="2331720"/>
            <a:ext cx="246728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84919" y="2532888"/>
            <a:ext cx="1991792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184919" y="299008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Advanced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84919" y="3410712"/>
            <a:ext cx="199179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중등~고등 · TOEIC/iBT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공인시험은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 확인 도구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단계별 목표로 객관적 검증(GCT).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교육과정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대상별 </a:t>
            </a:r>
            <a:pPr indent="0" marL="0"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5과정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연구로 설계한 깊이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00B8E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3~7세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Pre-A1 → A1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14984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놀이·노래·TPR로 소리부터, 침묵기 존중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Phonics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Junior 진단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44917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2661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182661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초1~6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182661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Pre-A1 → A2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82661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듣기·말하기 → 체계적 파닉스·다독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Phonics·Basic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JET 3~6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12593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50337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6C5CE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중등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50337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중1~3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350337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→ B1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50337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학업영어(CALP) 도약·과제+인출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Master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JET 1·2/Bridge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80270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18014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12998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518014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고1~3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518014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 → B2+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18014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학문영어·비판적 읽기·에세이·시험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Advanced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수능/TOEIC/iBT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447947" y="2103120"/>
            <a:ext cx="1966509" cy="2743200"/>
          </a:xfrm>
          <a:prstGeom prst="roundRect">
            <a:avLst>
              <a:gd name="adj" fmla="val 4185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85691" y="2304288"/>
            <a:ext cx="1491021" cy="310896"/>
          </a:xfrm>
          <a:prstGeom prst="roundRect">
            <a:avLst>
              <a:gd name="adj" fmla="val 50000"/>
            </a:avLst>
          </a:prstGeom>
          <a:solidFill>
            <a:srgbClr val="FF5D8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685691" y="2761488"/>
            <a:ext cx="14910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아동+학부모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685691" y="3182112"/>
            <a:ext cx="1491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Pre-A1 → A2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85691" y="3511296"/>
            <a:ext cx="1491021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루틴·대화식 읽기로 학습 확장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연계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블렌디드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과정은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· 예시 차시(레슨플랜) · 진단 · 교재 매핑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설계 — Krashen·과학적 읽기·다독·인출/간격반복·SDT 근거. 경쟁사가 따라 하기 힘든 교육 설계의 해자입니다.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 · 리텐션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다니게 하는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설계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6372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iBless 포인트로 성취를 인정하고, 스토어에서 교환. 처음엔 외적 동기로 시작해 “잘하고 싶은 마음”으로 내면화되도록 설계합니다(OIT).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3200400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3154680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앱 복습 알림 → 잊을 때쯤 다시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858768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3813048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 리포트·알림 → 가정의 신뢰·재등록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4517136"/>
            <a:ext cx="411480" cy="411480"/>
          </a:xfrm>
          <a:prstGeom prst="ellipse">
            <a:avLst/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4471416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또래 챌린지 → 지속의 즐거움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강점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시스템을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14984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커리큘럼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14984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레벨링·4대영역·공인시험 연계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00552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8296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738296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교재·콘텐츠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38296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자체 개발 교재·앱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3864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1608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61608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시스템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61608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진단·리포트·수료 인증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47175" y="2468880"/>
            <a:ext cx="2467280" cy="1920240"/>
          </a:xfrm>
          <a:prstGeom prst="roundRect">
            <a:avLst>
              <a:gd name="adj" fmla="val 4286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4919" y="26700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184919" y="312724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84919" y="3547872"/>
            <a:ext cx="199179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직영 노하우 전수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지원 · 절차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오픈부터 운영까지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지원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상권분석·인테리어 가이드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00552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8296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교육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38296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교수법·시스템 교육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23864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1608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61608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브랜드·지역 홍보 지원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47175" y="2286000"/>
            <a:ext cx="2467280" cy="1554480"/>
          </a:xfrm>
          <a:prstGeom prst="roundRect">
            <a:avLst>
              <a:gd name="adj" fmla="val 5294"/>
            </a:avLst>
          </a:prstGeom>
          <a:solidFill>
            <a:srgbClr val="20232E"/>
          </a:solidFill>
          <a:ln w="12700">
            <a:solidFill>
              <a:srgbClr val="333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4919" y="2487168"/>
            <a:ext cx="1991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슈퍼바이징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84919" y="2907792"/>
            <a:ext cx="19917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C7C7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운영 컨설팅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문의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00884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65476" y="425196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상담·설명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389120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4251960"/>
            <a:ext cx="1577340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상권 분석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77356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1948" y="425196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95260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59852" y="425196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313164" y="42519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77756" y="425196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20232E"/>
          </a:solidFill>
          <a:ln w="12700">
            <a:solidFill>
              <a:srgbClr val="3338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</a:t>
            </a:r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모델 </a:t>
            </a:r>
            <a:pPr indent="0" marL="0">
              <a:buNone/>
            </a:pPr>
            <a:r>
              <a:rPr lang="en-US" sz="1100" b="1" spc="200" kern="0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(예시 · 실제 값으로 교체)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106372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안정적인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사업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2331720"/>
            <a:ext cx="337505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14984" y="25328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개설 비용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14984" y="2953512"/>
            <a:ext cx="289956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가맹비 + 교육·오픈 지원 + 인테리어 + 초도물품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총 OO,OOO만원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8322" y="2331720"/>
            <a:ext cx="337505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6066" y="25328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수익 구조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646066" y="2953512"/>
            <a:ext cx="289956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재원생 × 수강료 − 운영비(임대·인건비·로열티)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재원 OO명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39405" y="2331720"/>
            <a:ext cx="337505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sx="100000" sy="100000" kx="0" ky="0" algn="bl" rotWithShape="0" blurRad="101600" dist="25400" dir="5400000">
              <a:srgbClr val="BFBFBF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7149" y="2532888"/>
            <a:ext cx="28995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로열티·정책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77149" y="2953512"/>
            <a:ext cx="2899562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매출의 </a:t>
            </a:r>
            <a:pPr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O%</a:t>
            </a:r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또는 정액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94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조건은 정보공개서 기준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612648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위 수치는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실제 비용·수익은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5151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가맹사업법 정보공개서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기준으로 확정해 과장 없이 안내하세요.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2194560"/>
            <a:ext cx="5943600" cy="5943600"/>
          </a:xfrm>
          <a:prstGeom prst="ellipse">
            <a:avLst/>
          </a:prstGeom>
          <a:solidFill>
            <a:srgbClr val="2A235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iBless</a:t>
            </a:r>
            <a:pPr algn="ctr" indent="0" marL="0">
              <a:buNone/>
            </a:pPr>
            <a:r>
              <a:rPr lang="en-US" sz="120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아이블레스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교육으로,
</a:t>
            </a:r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ECA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성장</a:t>
            </a:r>
            <a:pPr algn="ctr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하시겠어요?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402336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7D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가맹 상담을 신청하세요. 자세한 사업 안내를 드립니다.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023360" y="470916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 문의하기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4709160"/>
            <a:ext cx="2011680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FFFFF">
                <a:alpha val="6000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보기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7607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 {전화 / 이메일} · 인천 송도 본사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아이블레스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아이블레스 가맹 사업설명회</dc:title>
  <dc:subject>PptxGenJS Presentation</dc:subject>
  <dc:creator>iBless</dc:creator>
  <cp:lastModifiedBy>iBless</cp:lastModifiedBy>
  <cp:revision>1</cp:revision>
  <dcterms:created xsi:type="dcterms:W3CDTF">2026-06-06T16:57:30Z</dcterms:created>
  <dcterms:modified xsi:type="dcterms:W3CDTF">2026-06-06T16:57:30Z</dcterms:modified>
</cp:coreProperties>
</file>